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5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02" autoAdjust="0"/>
  </p:normalViewPr>
  <p:slideViewPr>
    <p:cSldViewPr>
      <p:cViewPr varScale="1">
        <p:scale>
          <a:sx n="88" d="100"/>
          <a:sy n="88" d="100"/>
        </p:scale>
        <p:origin x="-1464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20F2EB7-7259-4F3E-B44E-E0F132C8556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79E40B77-838F-44CD-A14D-B2065AB26453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030" y="457200"/>
            <a:ext cx="8229600" cy="27432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9600" dirty="0" smtClean="0"/>
              <a:t>MAIL SERVER</a:t>
            </a:r>
            <a:endParaRPr lang="en-US" sz="9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066800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MAIL SERVER TEST ON TWO VIRTUAL MACHINES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09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Overview:</a:t>
            </a:r>
            <a:r>
              <a:rPr lang="en-US" u="sng" dirty="0"/>
              <a:t/>
            </a:r>
            <a:br>
              <a:rPr lang="en-US" u="sng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US" sz="1800" dirty="0"/>
              <a:t>This project demonstrates the setup of a fully functional mail server-client system using two Windows 10 virtual machines. The project showcases sending and receiving email between client and server using </a:t>
            </a:r>
            <a:r>
              <a:rPr lang="en-US" sz="1800" dirty="0" err="1"/>
              <a:t>hMailServer</a:t>
            </a:r>
            <a:r>
              <a:rPr lang="en-US" sz="1800" dirty="0"/>
              <a:t> and Thunderbird.</a:t>
            </a: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94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50839"/>
            <a:ext cx="7086600" cy="7921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352800"/>
            <a:ext cx="5791200" cy="2990492"/>
          </a:xfrm>
        </p:spPr>
      </p:pic>
      <p:sp>
        <p:nvSpPr>
          <p:cNvPr id="5" name="Rectangle 4"/>
          <p:cNvSpPr/>
          <p:nvPr/>
        </p:nvSpPr>
        <p:spPr>
          <a:xfrm>
            <a:off x="304800" y="1143001"/>
            <a:ext cx="8458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First of all, we need to know how email works. Email is sent and received by using different protocols.</a:t>
            </a:r>
          </a:p>
          <a:p>
            <a:r>
              <a:rPr lang="en-US" dirty="0" smtClean="0"/>
              <a:t>1.SMTP(simple mail transfer protocol) :-  used for sending email.</a:t>
            </a:r>
          </a:p>
          <a:p>
            <a:r>
              <a:rPr lang="en-US" dirty="0" smtClean="0"/>
              <a:t>2.IMAP/POP3 :- used for receiving email.</a:t>
            </a:r>
          </a:p>
          <a:p>
            <a:endParaRPr lang="en-US" dirty="0" smtClean="0"/>
          </a:p>
          <a:p>
            <a:r>
              <a:rPr lang="en-US" dirty="0" smtClean="0"/>
              <a:t>DNS(domain name system):- to locate recipient’s mail server.</a:t>
            </a:r>
            <a:endParaRPr lang="en-US" dirty="0"/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0087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609600"/>
            <a:ext cx="7086600" cy="609600"/>
          </a:xfrm>
        </p:spPr>
        <p:txBody>
          <a:bodyPr/>
          <a:lstStyle/>
          <a:p>
            <a:r>
              <a:rPr lang="en-US" sz="3200" dirty="0" smtClean="0"/>
              <a:t> PROJECT OBJECTIVES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905000"/>
            <a:ext cx="7162800" cy="3352800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 </a:t>
            </a:r>
          </a:p>
          <a:p>
            <a:r>
              <a:rPr lang="en-US" sz="7200" dirty="0"/>
              <a:t>To set up a mail </a:t>
            </a:r>
            <a:r>
              <a:rPr lang="en-US" sz="7200" dirty="0" smtClean="0"/>
              <a:t>server.</a:t>
            </a:r>
            <a:endParaRPr lang="en-US" sz="7200" dirty="0"/>
          </a:p>
          <a:p>
            <a:r>
              <a:rPr lang="en-US" sz="7200" dirty="0"/>
              <a:t> </a:t>
            </a:r>
          </a:p>
          <a:p>
            <a:r>
              <a:rPr lang="en-US" sz="7200" dirty="0"/>
              <a:t>To simulate client-to-server and server-to-client email </a:t>
            </a:r>
            <a:r>
              <a:rPr lang="en-US" sz="7200" dirty="0" smtClean="0"/>
              <a:t>communication using two virtual machines(VMs).</a:t>
            </a:r>
            <a:endParaRPr lang="en-US" sz="7200" dirty="0"/>
          </a:p>
          <a:p>
            <a:r>
              <a:rPr lang="en-US" sz="7200" dirty="0"/>
              <a:t>  </a:t>
            </a:r>
          </a:p>
          <a:p>
            <a:r>
              <a:rPr lang="en-US" sz="7200" dirty="0"/>
              <a:t>To understand the roles </a:t>
            </a:r>
            <a:r>
              <a:rPr lang="en-US" sz="7200" dirty="0" smtClean="0"/>
              <a:t>of network configuration, ports, authentication, and protocols (</a:t>
            </a:r>
            <a:r>
              <a:rPr lang="en-US" sz="7200" dirty="0"/>
              <a:t>SMTP, POP3/IMAP </a:t>
            </a:r>
            <a:r>
              <a:rPr lang="en-US" sz="7200" dirty="0" smtClean="0"/>
              <a:t>) </a:t>
            </a:r>
            <a:r>
              <a:rPr lang="en-US" sz="7200" dirty="0"/>
              <a:t>in </a:t>
            </a:r>
            <a:r>
              <a:rPr lang="en-US" sz="7200" dirty="0" smtClean="0"/>
              <a:t>data communication system (email systems).</a:t>
            </a:r>
            <a:endParaRPr lang="en-US" sz="7200" dirty="0"/>
          </a:p>
          <a:p>
            <a:r>
              <a:rPr lang="en-US" sz="7200" dirty="0"/>
              <a:t> </a:t>
            </a:r>
          </a:p>
          <a:p>
            <a:r>
              <a:rPr lang="en-US" sz="7200" dirty="0"/>
              <a:t>To </a:t>
            </a:r>
            <a:r>
              <a:rPr lang="en-US" sz="7200" dirty="0" smtClean="0"/>
              <a:t>test and verify message delivery, reception, and mail server configuration using tools like </a:t>
            </a:r>
            <a:r>
              <a:rPr lang="en-US" sz="7200" dirty="0" err="1" smtClean="0"/>
              <a:t>powershell</a:t>
            </a:r>
            <a:r>
              <a:rPr lang="en-US" sz="7200" dirty="0" smtClean="0"/>
              <a:t> and thunder.</a:t>
            </a:r>
            <a:endParaRPr lang="en-US" sz="7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88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086600" cy="639762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TOOLS AND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334000"/>
          </a:xfrm>
        </p:spPr>
        <p:txBody>
          <a:bodyPr>
            <a:normAutofit fontScale="85000" lnSpcReduction="20000"/>
          </a:bodyPr>
          <a:lstStyle/>
          <a:p>
            <a:pPr marL="137160" indent="0">
              <a:buNone/>
            </a:pPr>
            <a:r>
              <a:rPr lang="en-US" sz="2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</a:p>
          <a:p>
            <a:pPr marL="137160" indent="0">
              <a:buNone/>
            </a:pPr>
            <a:r>
              <a:rPr 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Used</a:t>
            </a:r>
            <a:r>
              <a:rPr lang="en-US" sz="21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2100" b="1" dirty="0"/>
              <a:t> </a:t>
            </a:r>
            <a:endParaRPr lang="en-US" sz="2100" b="1" dirty="0" smtClean="0"/>
          </a:p>
          <a:p>
            <a:pPr marL="137160" indent="0">
              <a:buNone/>
            </a:pPr>
            <a:endParaRPr lang="en-US" sz="2100" dirty="0"/>
          </a:p>
          <a:p>
            <a:pPr marL="137160" indent="0">
              <a:buNone/>
            </a:pPr>
            <a:r>
              <a:rPr lang="en-US" sz="2100" dirty="0" err="1" smtClean="0"/>
              <a:t>VirtualBox</a:t>
            </a:r>
            <a:r>
              <a:rPr lang="en-US" sz="2100" dirty="0" smtClean="0"/>
              <a:t> / VMware</a:t>
            </a:r>
          </a:p>
          <a:p>
            <a:pPr marL="137160" indent="0">
              <a:buNone/>
            </a:pPr>
            <a:r>
              <a:rPr lang="en-US" sz="2100" dirty="0" smtClean="0"/>
              <a:t> </a:t>
            </a:r>
          </a:p>
          <a:p>
            <a:pPr marL="137160" indent="0">
              <a:buNone/>
            </a:pPr>
            <a:r>
              <a:rPr lang="en-US" sz="2100" dirty="0" smtClean="0"/>
              <a:t>Windows </a:t>
            </a:r>
            <a:r>
              <a:rPr lang="en-US" sz="2100" dirty="0"/>
              <a:t>10 (on both VMs</a:t>
            </a:r>
            <a:r>
              <a:rPr lang="en-US" sz="2100" dirty="0" smtClean="0"/>
              <a:t>)</a:t>
            </a:r>
          </a:p>
          <a:p>
            <a:pPr marL="137160" indent="0">
              <a:buNone/>
            </a:pPr>
            <a:r>
              <a:rPr lang="en-US" sz="2100" dirty="0" smtClean="0"/>
              <a:t> </a:t>
            </a:r>
          </a:p>
          <a:p>
            <a:pPr marL="137160" indent="0">
              <a:buNone/>
            </a:pPr>
            <a:r>
              <a:rPr lang="en-US" sz="2100" dirty="0" err="1" smtClean="0"/>
              <a:t>hMailServer</a:t>
            </a:r>
            <a:r>
              <a:rPr lang="en-US" sz="2100" dirty="0" smtClean="0"/>
              <a:t> (Mail Server)</a:t>
            </a:r>
          </a:p>
          <a:p>
            <a:pPr marL="137160" indent="0">
              <a:buNone/>
            </a:pPr>
            <a:r>
              <a:rPr lang="en-US" sz="2100" dirty="0" smtClean="0"/>
              <a:t> </a:t>
            </a:r>
          </a:p>
          <a:p>
            <a:pPr marL="137160" indent="0">
              <a:buNone/>
            </a:pPr>
            <a:r>
              <a:rPr lang="en-US" sz="2100" dirty="0" smtClean="0"/>
              <a:t>Thunderbird </a:t>
            </a:r>
            <a:r>
              <a:rPr lang="en-US" sz="2100" dirty="0"/>
              <a:t>(Email Client)</a:t>
            </a:r>
          </a:p>
          <a:p>
            <a:pPr marL="137160" indent="0">
              <a:buNone/>
            </a:pPr>
            <a:r>
              <a:rPr lang="en-US" sz="2100" dirty="0" smtClean="0"/>
              <a:t> </a:t>
            </a:r>
            <a:endParaRPr lang="en-US" sz="2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160" indent="0">
              <a:buNone/>
            </a:pPr>
            <a:r>
              <a:rPr 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</a:t>
            </a:r>
            <a:r>
              <a:rPr lang="en-US" sz="21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Setup:</a:t>
            </a:r>
            <a:r>
              <a:rPr lang="en-US" sz="2100" dirty="0"/>
              <a:t> </a:t>
            </a:r>
            <a:endParaRPr lang="en-US" sz="2100" dirty="0" smtClean="0"/>
          </a:p>
          <a:p>
            <a:pPr marL="137160" indent="0">
              <a:buNone/>
            </a:pPr>
            <a:r>
              <a:rPr lang="en-US" sz="2100" dirty="0" smtClean="0"/>
              <a:t>Internal </a:t>
            </a:r>
            <a:r>
              <a:rPr lang="en-US" sz="2100" dirty="0"/>
              <a:t>Network </a:t>
            </a:r>
            <a:r>
              <a:rPr lang="en-US" sz="2100" dirty="0" smtClean="0"/>
              <a:t>configuration</a:t>
            </a:r>
          </a:p>
          <a:p>
            <a:pPr marL="137160" indent="0">
              <a:buNone/>
            </a:pPr>
            <a:endParaRPr lang="en-US" sz="2100" dirty="0" smtClean="0"/>
          </a:p>
          <a:p>
            <a:pPr marL="137160" indent="0">
              <a:buNone/>
            </a:pPr>
            <a:r>
              <a:rPr lang="en-US" sz="21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</a:t>
            </a:r>
            <a:r>
              <a:rPr 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 </a:t>
            </a:r>
            <a:r>
              <a:rPr lang="en-US" sz="21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addresses:</a:t>
            </a:r>
          </a:p>
          <a:p>
            <a:pPr marL="137160" indent="0">
              <a:buNone/>
            </a:pPr>
            <a:endParaRPr lang="en-US" sz="2100" dirty="0"/>
          </a:p>
          <a:p>
            <a:pPr marL="137160" indent="0">
              <a:buNone/>
            </a:pPr>
            <a:r>
              <a:rPr lang="en-US" sz="2100" dirty="0" smtClean="0"/>
              <a:t>VM1 </a:t>
            </a:r>
            <a:r>
              <a:rPr lang="en-US" sz="2100" dirty="0"/>
              <a:t>(Client): </a:t>
            </a:r>
            <a:r>
              <a:rPr lang="en-US" sz="2100" dirty="0" smtClean="0"/>
              <a:t>192.168.100.1</a:t>
            </a:r>
          </a:p>
          <a:p>
            <a:pPr marL="137160" indent="0">
              <a:buNone/>
            </a:pPr>
            <a:r>
              <a:rPr lang="en-US" sz="2100" dirty="0" smtClean="0"/>
              <a:t>VM2 (Server): 192.168.100.2</a:t>
            </a:r>
          </a:p>
          <a:p>
            <a:pPr marL="137160" indent="0">
              <a:buNone/>
            </a:pPr>
            <a:endParaRPr lang="en-US" sz="21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29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effectLst/>
              </a:rPr>
              <a:t>MAIL SERVER CONFIGURATION (SERVER SIDE)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495800"/>
          </a:xfrm>
        </p:spPr>
        <p:txBody>
          <a:bodyPr>
            <a:normAutofit fontScale="62500" lnSpcReduction="20000"/>
          </a:bodyPr>
          <a:lstStyle/>
          <a:p>
            <a:pPr marL="137160" indent="0">
              <a:buNone/>
            </a:pPr>
            <a:r>
              <a:rPr lang="en-US" sz="2900" dirty="0"/>
              <a:t>1. Install </a:t>
            </a:r>
            <a:r>
              <a:rPr lang="en-US" sz="2900" dirty="0" err="1"/>
              <a:t>hMailServer</a:t>
            </a:r>
            <a:r>
              <a:rPr lang="en-US" sz="2900" dirty="0"/>
              <a:t> on VM2.</a:t>
            </a:r>
          </a:p>
          <a:p>
            <a:pPr marL="137160" indent="0">
              <a:buNone/>
            </a:pPr>
            <a:r>
              <a:rPr lang="en-US" sz="2900" dirty="0"/>
              <a:t>  </a:t>
            </a:r>
          </a:p>
          <a:p>
            <a:pPr marL="137160" indent="0">
              <a:buNone/>
            </a:pPr>
            <a:r>
              <a:rPr lang="en-US" sz="2900" dirty="0"/>
              <a:t>2. Add domain (e.g., </a:t>
            </a:r>
            <a:r>
              <a:rPr lang="en-US" sz="2900" dirty="0" err="1" smtClean="0"/>
              <a:t>smtp.local</a:t>
            </a:r>
            <a:r>
              <a:rPr lang="en-US" sz="2900" dirty="0" smtClean="0"/>
              <a:t>).</a:t>
            </a:r>
            <a:endParaRPr lang="en-US" sz="2900" dirty="0"/>
          </a:p>
          <a:p>
            <a:pPr marL="137160" indent="0">
              <a:buNone/>
            </a:pPr>
            <a:r>
              <a:rPr lang="en-US" sz="2900" dirty="0"/>
              <a:t> </a:t>
            </a:r>
          </a:p>
          <a:p>
            <a:pPr marL="137160" indent="0">
              <a:buNone/>
            </a:pPr>
            <a:r>
              <a:rPr lang="en-US" sz="2900" dirty="0"/>
              <a:t>3. Create accounts:</a:t>
            </a:r>
          </a:p>
          <a:p>
            <a:pPr marL="137160" indent="0">
              <a:buNone/>
            </a:pPr>
            <a:endParaRPr lang="en-US" sz="2900" dirty="0"/>
          </a:p>
          <a:p>
            <a:pPr marL="137160" indent="0">
              <a:buNone/>
            </a:pPr>
            <a:r>
              <a:rPr lang="en-US" sz="2900" dirty="0" smtClean="0"/>
              <a:t>       user1@smtp.local</a:t>
            </a:r>
            <a:endParaRPr lang="en-US" sz="2900" dirty="0"/>
          </a:p>
          <a:p>
            <a:pPr marL="137160" indent="0">
              <a:buNone/>
            </a:pPr>
            <a:r>
              <a:rPr lang="en-US" sz="2900" dirty="0" smtClean="0"/>
              <a:t>       user2@smtp.local</a:t>
            </a:r>
            <a:endParaRPr lang="en-US" sz="2900" dirty="0"/>
          </a:p>
          <a:p>
            <a:pPr marL="137160" indent="0">
              <a:buNone/>
            </a:pPr>
            <a:endParaRPr lang="en-US" sz="2900" dirty="0"/>
          </a:p>
          <a:p>
            <a:pPr marL="137160" indent="0">
              <a:buNone/>
            </a:pPr>
            <a:r>
              <a:rPr lang="en-US" sz="2900" dirty="0"/>
              <a:t>4. Enable required protocols:</a:t>
            </a:r>
          </a:p>
          <a:p>
            <a:pPr marL="137160" indent="0">
              <a:buNone/>
            </a:pPr>
            <a:r>
              <a:rPr lang="en-US" sz="2900" dirty="0"/>
              <a:t> </a:t>
            </a:r>
          </a:p>
          <a:p>
            <a:pPr marL="137160" indent="0">
              <a:buNone/>
            </a:pPr>
            <a:r>
              <a:rPr lang="en-US" sz="2900" dirty="0" smtClean="0"/>
              <a:t>      SMTP </a:t>
            </a:r>
            <a:r>
              <a:rPr lang="en-US" sz="2900" dirty="0"/>
              <a:t>(Port 25</a:t>
            </a:r>
            <a:r>
              <a:rPr lang="en-US" sz="2900" dirty="0" smtClean="0"/>
              <a:t>)</a:t>
            </a:r>
            <a:endParaRPr lang="en-US" sz="2900" dirty="0"/>
          </a:p>
          <a:p>
            <a:pPr marL="137160" indent="0">
              <a:buNone/>
            </a:pPr>
            <a:r>
              <a:rPr lang="en-US" sz="2900" dirty="0" smtClean="0"/>
              <a:t>      IMAP </a:t>
            </a:r>
            <a:r>
              <a:rPr lang="en-US" sz="2900" dirty="0"/>
              <a:t>(Port 143) or POP3 (Port 110</a:t>
            </a:r>
            <a:r>
              <a:rPr lang="en-US" sz="2900" dirty="0" smtClean="0"/>
              <a:t>)</a:t>
            </a:r>
            <a:endParaRPr lang="en-US" sz="2900" dirty="0"/>
          </a:p>
          <a:p>
            <a:pPr marL="137160" indent="0">
              <a:buNone/>
            </a:pPr>
            <a:r>
              <a:rPr lang="en-US" sz="2900" dirty="0"/>
              <a:t> </a:t>
            </a:r>
          </a:p>
          <a:p>
            <a:pPr marL="137160" indent="0">
              <a:buNone/>
            </a:pPr>
            <a:r>
              <a:rPr lang="en-US" sz="2900" dirty="0"/>
              <a:t>5. Allow local IPs through Windows </a:t>
            </a:r>
            <a:r>
              <a:rPr lang="en-US" sz="2900" dirty="0" smtClean="0"/>
              <a:t>Firewall.</a:t>
            </a:r>
            <a:endParaRPr lang="en-US" sz="2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963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CLIENT CONFIGURATION (BOTH DIRECTIONS)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5029200"/>
          </a:xfrm>
        </p:spPr>
        <p:txBody>
          <a:bodyPr>
            <a:normAutofit fontScale="55000" lnSpcReduction="20000"/>
          </a:bodyPr>
          <a:lstStyle/>
          <a:p>
            <a:pPr marL="137160" indent="0">
              <a:buNone/>
            </a:pPr>
            <a:r>
              <a:rPr lang="en-US" sz="3300" dirty="0"/>
              <a:t> </a:t>
            </a:r>
            <a:r>
              <a:rPr lang="en-US" sz="3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 (VM1):</a:t>
            </a:r>
          </a:p>
          <a:p>
            <a:pPr marL="137160" indent="0">
              <a:buNone/>
            </a:pPr>
            <a:r>
              <a:rPr lang="en-US" sz="3300" dirty="0"/>
              <a:t> </a:t>
            </a:r>
          </a:p>
          <a:p>
            <a:pPr marL="137160" indent="0">
              <a:buNone/>
            </a:pPr>
            <a:r>
              <a:rPr lang="en-US" sz="3300" dirty="0"/>
              <a:t>Install and configure Thunderbird.</a:t>
            </a:r>
          </a:p>
          <a:p>
            <a:pPr marL="137160" indent="0">
              <a:buNone/>
            </a:pPr>
            <a:r>
              <a:rPr lang="en-US" sz="3300" dirty="0"/>
              <a:t> </a:t>
            </a:r>
          </a:p>
          <a:p>
            <a:pPr marL="137160" indent="0">
              <a:buNone/>
            </a:pPr>
            <a:r>
              <a:rPr lang="en-US" sz="3300" dirty="0"/>
              <a:t>Add account: </a:t>
            </a:r>
            <a:r>
              <a:rPr lang="en-US" sz="3300" dirty="0" smtClean="0"/>
              <a:t>user1@smtp.local</a:t>
            </a:r>
            <a:endParaRPr lang="en-US" sz="3300" dirty="0"/>
          </a:p>
          <a:p>
            <a:pPr marL="137160" indent="0">
              <a:buNone/>
            </a:pPr>
            <a:r>
              <a:rPr lang="en-US" sz="3300" dirty="0"/>
              <a:t> </a:t>
            </a:r>
          </a:p>
          <a:p>
            <a:pPr marL="137160" indent="0">
              <a:buNone/>
            </a:pPr>
            <a:r>
              <a:rPr lang="en-US" sz="3300" dirty="0"/>
              <a:t>Incoming: IMAP/POP3 from </a:t>
            </a:r>
            <a:r>
              <a:rPr lang="en-US" sz="3300" dirty="0" smtClean="0"/>
              <a:t>192.168.100.1</a:t>
            </a:r>
            <a:endParaRPr lang="en-US" sz="3300" dirty="0"/>
          </a:p>
          <a:p>
            <a:pPr marL="137160" indent="0">
              <a:buNone/>
            </a:pPr>
            <a:r>
              <a:rPr lang="en-US" sz="3300" dirty="0"/>
              <a:t> </a:t>
            </a:r>
          </a:p>
          <a:p>
            <a:pPr marL="137160" indent="0">
              <a:buNone/>
            </a:pPr>
            <a:r>
              <a:rPr lang="en-US" sz="3300" dirty="0"/>
              <a:t>Outgoing: SMTP to </a:t>
            </a:r>
            <a:r>
              <a:rPr lang="en-US" sz="3300" dirty="0" smtClean="0"/>
              <a:t>192.168.100.1</a:t>
            </a:r>
          </a:p>
          <a:p>
            <a:pPr marL="137160" indent="0">
              <a:buNone/>
            </a:pPr>
            <a:endParaRPr lang="en-US" sz="3300" dirty="0"/>
          </a:p>
          <a:p>
            <a:pPr marL="137160" indent="0">
              <a:buNone/>
            </a:pPr>
            <a:r>
              <a:rPr lang="en-US" sz="3300" dirty="0"/>
              <a:t> </a:t>
            </a:r>
          </a:p>
          <a:p>
            <a:pPr marL="137160" indent="0">
              <a:buNone/>
            </a:pP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 VM (VM2):</a:t>
            </a:r>
          </a:p>
          <a:p>
            <a:pPr marL="137160" indent="0">
              <a:buNone/>
            </a:pPr>
            <a:r>
              <a:rPr lang="en-US" sz="3300" dirty="0"/>
              <a:t> </a:t>
            </a:r>
          </a:p>
          <a:p>
            <a:pPr marL="137160" indent="0">
              <a:buNone/>
            </a:pPr>
            <a:r>
              <a:rPr lang="en-US" sz="3300" dirty="0"/>
              <a:t>Thunderbird is also installed here to </a:t>
            </a:r>
            <a:r>
              <a:rPr lang="en-US" sz="3300" dirty="0" smtClean="0"/>
              <a:t>receive and respond from server pc.</a:t>
            </a:r>
            <a:endParaRPr lang="en-US" sz="3300" dirty="0"/>
          </a:p>
          <a:p>
            <a:pPr marL="137160" indent="0">
              <a:buNone/>
            </a:pPr>
            <a:r>
              <a:rPr lang="en-US" sz="3300" dirty="0"/>
              <a:t> </a:t>
            </a:r>
          </a:p>
          <a:p>
            <a:pPr marL="137160" indent="0">
              <a:buNone/>
            </a:pPr>
            <a:r>
              <a:rPr lang="en-US" sz="3300" dirty="0"/>
              <a:t>Add account: </a:t>
            </a:r>
            <a:r>
              <a:rPr lang="en-US" sz="3300" dirty="0" smtClean="0"/>
              <a:t>user2@smtp.local</a:t>
            </a:r>
            <a:endParaRPr lang="en-US" sz="3300" dirty="0"/>
          </a:p>
          <a:p>
            <a:pPr marL="137160" indent="0">
              <a:buNone/>
            </a:pPr>
            <a:r>
              <a:rPr lang="en-US" sz="3300" dirty="0"/>
              <a:t> </a:t>
            </a:r>
          </a:p>
          <a:p>
            <a:pPr marL="137160" indent="0">
              <a:buNone/>
            </a:pPr>
            <a:r>
              <a:rPr lang="en-US" sz="3300" dirty="0"/>
              <a:t>Send reply back to </a:t>
            </a:r>
            <a:r>
              <a:rPr lang="en-US" sz="3300" dirty="0" smtClean="0"/>
              <a:t>user1@smtp.local</a:t>
            </a:r>
            <a:endParaRPr lang="en-US" sz="33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39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EMAIL COMMUNICATION FLOW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458200" cy="4876800"/>
          </a:xfrm>
        </p:spPr>
        <p:txBody>
          <a:bodyPr>
            <a:normAutofit fontScale="62500" lnSpcReduction="20000"/>
          </a:bodyPr>
          <a:lstStyle/>
          <a:p>
            <a:pPr marL="137160" indent="0">
              <a:buNone/>
            </a:pPr>
            <a:r>
              <a:rPr lang="en-US" sz="3300" dirty="0"/>
              <a:t> </a:t>
            </a:r>
          </a:p>
          <a:p>
            <a:pPr marL="137160" indent="0">
              <a:buNone/>
            </a:pP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Client to Server:</a:t>
            </a:r>
          </a:p>
          <a:p>
            <a:pPr marL="137160" indent="0">
              <a:buNone/>
            </a:pPr>
            <a:r>
              <a:rPr lang="en-US" sz="2900" dirty="0"/>
              <a:t> </a:t>
            </a:r>
          </a:p>
          <a:p>
            <a:pPr marL="137160" indent="0">
              <a:buNone/>
            </a:pPr>
            <a:r>
              <a:rPr lang="en-US" sz="2900" dirty="0" smtClean="0"/>
              <a:t>user1@smtp.local </a:t>
            </a:r>
            <a:r>
              <a:rPr lang="en-US" sz="2900" dirty="0"/>
              <a:t>sends email to </a:t>
            </a:r>
            <a:r>
              <a:rPr lang="en-US" sz="2900" dirty="0" smtClean="0"/>
              <a:t>user2@smtp.local.</a:t>
            </a:r>
            <a:endParaRPr lang="en-US" sz="2900" dirty="0"/>
          </a:p>
          <a:p>
            <a:pPr marL="137160" indent="0">
              <a:buNone/>
            </a:pPr>
            <a:r>
              <a:rPr lang="en-US" sz="2900" dirty="0"/>
              <a:t>Mail is received by </a:t>
            </a:r>
            <a:r>
              <a:rPr lang="en-US" sz="2900" dirty="0" err="1"/>
              <a:t>hMailServer</a:t>
            </a:r>
            <a:r>
              <a:rPr lang="en-US" sz="2900" dirty="0"/>
              <a:t> on VM2</a:t>
            </a:r>
            <a:r>
              <a:rPr lang="en-US" sz="2900" dirty="0" smtClean="0"/>
              <a:t>.</a:t>
            </a:r>
          </a:p>
          <a:p>
            <a:pPr marL="137160" indent="0">
              <a:buNone/>
            </a:pPr>
            <a:r>
              <a:rPr lang="en-US" sz="2900" dirty="0"/>
              <a:t> </a:t>
            </a:r>
          </a:p>
          <a:p>
            <a:pPr marL="137160" indent="0">
              <a:buNone/>
            </a:pP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Server to Client (Response):</a:t>
            </a:r>
          </a:p>
          <a:p>
            <a:pPr marL="137160" indent="0">
              <a:buNone/>
            </a:pPr>
            <a:r>
              <a:rPr lang="en-US" sz="2900" dirty="0"/>
              <a:t> </a:t>
            </a:r>
          </a:p>
          <a:p>
            <a:pPr marL="137160" indent="0">
              <a:buNone/>
            </a:pPr>
            <a:r>
              <a:rPr lang="en-US" sz="2900" dirty="0" smtClean="0"/>
              <a:t>user2@smtp.local </a:t>
            </a:r>
            <a:r>
              <a:rPr lang="en-US" sz="2900" dirty="0"/>
              <a:t>replies using Thunderbird on VM2</a:t>
            </a:r>
            <a:r>
              <a:rPr lang="en-US" sz="2900" dirty="0" smtClean="0"/>
              <a:t>.</a:t>
            </a:r>
            <a:endParaRPr lang="en-US" sz="2900" dirty="0"/>
          </a:p>
          <a:p>
            <a:pPr marL="137160" indent="0">
              <a:buNone/>
            </a:pPr>
            <a:r>
              <a:rPr lang="en-US" sz="2900" dirty="0"/>
              <a:t>Mail is sent via </a:t>
            </a:r>
            <a:r>
              <a:rPr lang="en-US" sz="2900" dirty="0" err="1"/>
              <a:t>hMailServer</a:t>
            </a:r>
            <a:r>
              <a:rPr lang="en-US" sz="2900" dirty="0"/>
              <a:t> to </a:t>
            </a:r>
            <a:r>
              <a:rPr lang="en-US" sz="2900" dirty="0" smtClean="0"/>
              <a:t>user1@smtp.local </a:t>
            </a:r>
            <a:r>
              <a:rPr lang="en-US" sz="2900" dirty="0"/>
              <a:t>on VM1.</a:t>
            </a:r>
          </a:p>
          <a:p>
            <a:pPr marL="137160" indent="0">
              <a:buNone/>
            </a:pPr>
            <a:r>
              <a:rPr lang="en-US" sz="2900" dirty="0"/>
              <a:t> </a:t>
            </a:r>
            <a:endParaRPr lang="en-US" sz="2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160" indent="0">
              <a:buNone/>
            </a:pP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Protocols Used:</a:t>
            </a:r>
          </a:p>
          <a:p>
            <a:pPr marL="137160" indent="0">
              <a:buNone/>
            </a:pPr>
            <a:r>
              <a:rPr lang="en-US" sz="2900" dirty="0"/>
              <a:t> </a:t>
            </a:r>
          </a:p>
          <a:p>
            <a:pPr marL="137160" indent="0">
              <a:buNone/>
            </a:pPr>
            <a:r>
              <a:rPr lang="en-US" sz="2900" dirty="0"/>
              <a:t>SMTP for </a:t>
            </a:r>
            <a:r>
              <a:rPr lang="en-US" sz="2900" dirty="0" smtClean="0"/>
              <a:t>sending</a:t>
            </a:r>
            <a:endParaRPr lang="en-US" sz="2900" dirty="0"/>
          </a:p>
          <a:p>
            <a:pPr marL="137160" indent="0">
              <a:buNone/>
            </a:pPr>
            <a:r>
              <a:rPr lang="en-US" sz="2900" dirty="0" smtClean="0"/>
              <a:t>IMAP </a:t>
            </a:r>
            <a:r>
              <a:rPr lang="en-US" sz="2900" dirty="0"/>
              <a:t>for receiving</a:t>
            </a:r>
          </a:p>
          <a:p>
            <a:pPr marL="137160" indent="0">
              <a:buNone/>
            </a:pPr>
            <a:r>
              <a:rPr lang="en-US" sz="3300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83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CONCLUSION &amp; LEARNINGS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pPr marL="137160" indent="0">
              <a:buNone/>
            </a:pPr>
            <a:r>
              <a:rPr lang="en-US" dirty="0"/>
              <a:t>Successfully created a working mail system in a virtual network.</a:t>
            </a:r>
          </a:p>
          <a:p>
            <a:pPr marL="137160" indent="0">
              <a:buNone/>
            </a:pPr>
            <a:r>
              <a:rPr lang="en-US" dirty="0"/>
              <a:t> </a:t>
            </a:r>
          </a:p>
          <a:p>
            <a:pPr marL="137160" indent="0">
              <a:buNone/>
            </a:pPr>
            <a:r>
              <a:rPr lang="en-US" dirty="0"/>
              <a:t>Understood server roles </a:t>
            </a:r>
            <a:r>
              <a:rPr lang="en-US" dirty="0" smtClean="0"/>
              <a:t> vs</a:t>
            </a:r>
            <a:r>
              <a:rPr lang="en-US" dirty="0"/>
              <a:t>. client roles in email communication.</a:t>
            </a:r>
          </a:p>
          <a:p>
            <a:pPr marL="137160" indent="0">
              <a:buNone/>
            </a:pPr>
            <a:r>
              <a:rPr lang="en-US" dirty="0"/>
              <a:t> </a:t>
            </a:r>
          </a:p>
          <a:p>
            <a:pPr marL="137160" indent="0">
              <a:buNone/>
            </a:pPr>
            <a:r>
              <a:rPr lang="en-US" dirty="0"/>
              <a:t>Demonstrated full bidirectional message flow using open-source tools.</a:t>
            </a:r>
          </a:p>
          <a:p>
            <a:pPr marL="137160" indent="0">
              <a:buNone/>
            </a:pPr>
            <a:r>
              <a:rPr lang="en-US" dirty="0"/>
              <a:t> </a:t>
            </a:r>
          </a:p>
          <a:p>
            <a:pPr marL="137160" indent="0">
              <a:buNone/>
            </a:pPr>
            <a:r>
              <a:rPr lang="en-US" dirty="0"/>
              <a:t>Learned about network configuration, email protocols, and troubleshooting server-client communication.</a:t>
            </a:r>
          </a:p>
          <a:p>
            <a:pPr marL="137160" indent="0">
              <a:buNone/>
            </a:pPr>
            <a:r>
              <a:rPr lang="en-US" dirty="0"/>
              <a:t> </a:t>
            </a:r>
          </a:p>
          <a:p>
            <a:pPr marL="13716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Scope:</a:t>
            </a:r>
          </a:p>
          <a:p>
            <a:pPr marL="137160" indent="0">
              <a:buNone/>
            </a:pPr>
            <a:r>
              <a:rPr lang="en-US" dirty="0"/>
              <a:t> </a:t>
            </a:r>
          </a:p>
          <a:p>
            <a:pPr marL="137160" indent="0">
              <a:buNone/>
            </a:pPr>
            <a:r>
              <a:rPr lang="en-US" dirty="0"/>
              <a:t>Add webmail support </a:t>
            </a:r>
            <a:r>
              <a:rPr lang="en-US" dirty="0" smtClean="0"/>
              <a:t>.</a:t>
            </a:r>
            <a:endParaRPr lang="en-US" dirty="0"/>
          </a:p>
          <a:p>
            <a:pPr marL="137160" indent="0">
              <a:buNone/>
            </a:pPr>
            <a:r>
              <a:rPr lang="en-US" dirty="0"/>
              <a:t> </a:t>
            </a:r>
          </a:p>
          <a:p>
            <a:pPr marL="137160" indent="0">
              <a:buNone/>
            </a:pPr>
            <a:r>
              <a:rPr lang="en-US" dirty="0"/>
              <a:t>Implement spam filters and security (SSL/TLS).</a:t>
            </a:r>
          </a:p>
          <a:p>
            <a:pPr marL="137160" indent="0">
              <a:buNone/>
            </a:pPr>
            <a:r>
              <a:rPr lang="en-US" dirty="0"/>
              <a:t> </a:t>
            </a:r>
          </a:p>
          <a:p>
            <a:pPr marL="137160" indent="0">
              <a:buNone/>
            </a:pPr>
            <a:r>
              <a:rPr lang="en-US" dirty="0"/>
              <a:t>Test with real </a:t>
            </a:r>
            <a:r>
              <a:rPr lang="en-US" dirty="0" smtClean="0"/>
              <a:t>DNS.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3135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64</TotalTime>
  <Words>140</Words>
  <Application>Microsoft Office PowerPoint</Application>
  <PresentationFormat>On-screen Show (4:3)</PresentationFormat>
  <Paragraphs>108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Apex</vt:lpstr>
      <vt:lpstr>MAIL SERVER</vt:lpstr>
      <vt:lpstr>Overview: </vt:lpstr>
      <vt:lpstr>INTRODUCTION</vt:lpstr>
      <vt:lpstr> PROJECT OBJECTIVES</vt:lpstr>
      <vt:lpstr>TOOLS AND SETUP</vt:lpstr>
      <vt:lpstr>MAIL SERVER CONFIGURATION (SERVER SIDE)</vt:lpstr>
      <vt:lpstr>CLIENT CONFIGURATION (BOTH DIRECTIONS)</vt:lpstr>
      <vt:lpstr>EMAIL COMMUNICATION FLOW </vt:lpstr>
      <vt:lpstr>CONCLUSION &amp; LEARNINGS </vt:lpstr>
    </vt:vector>
  </TitlesOfParts>
  <Company>by adguard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 SERVER</dc:title>
  <dc:creator>dell</dc:creator>
  <cp:lastModifiedBy>dell</cp:lastModifiedBy>
  <cp:revision>8</cp:revision>
  <dcterms:created xsi:type="dcterms:W3CDTF">2025-05-25T21:30:50Z</dcterms:created>
  <dcterms:modified xsi:type="dcterms:W3CDTF">2025-05-25T22:35:34Z</dcterms:modified>
</cp:coreProperties>
</file>